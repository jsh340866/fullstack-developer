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72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5" r:id="rId15"/>
    <p:sldId id="276" r:id="rId16"/>
    <p:sldId id="277" r:id="rId17"/>
    <p:sldId id="279" r:id="rId18"/>
    <p:sldId id="278" r:id="rId19"/>
    <p:sldId id="280" r:id="rId20"/>
    <p:sldId id="281" r:id="rId21"/>
    <p:sldId id="282" r:id="rId22"/>
    <p:sldId id="264" r:id="rId23"/>
  </p:sldIdLst>
  <p:sldSz cx="24384000" cy="13716000"/>
  <p:notesSz cx="6858000" cy="9144000"/>
  <p:embeddedFontLst>
    <p:embeddedFont>
      <p:font typeface="Cafe24 Shiningstar" panose="020B0600000101010101" charset="-127"/>
      <p:regular r:id="rId24"/>
    </p:embeddedFont>
    <p:embeddedFont>
      <p:font typeface="Gmarket Sans Light" panose="020B0600000101010101" charset="-127"/>
      <p:regular r:id="rId25"/>
    </p:embeddedFont>
    <p:embeddedFont>
      <p:font typeface="Gmarket Sans Medium" panose="020B0600000101010101" charset="-127"/>
      <p:regular r:id="rId26"/>
    </p:embeddedFont>
    <p:embeddedFont>
      <p:font typeface="Pretendard Black" panose="020B0600000101010101" charset="-127"/>
      <p:bold r:id="rId27"/>
    </p:embeddedFont>
    <p:embeddedFont>
      <p:font typeface="Cafe24Ohsquare" panose="020B0600000101010101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Play" panose="020B0600000101010101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2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2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9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409700"/>
            <a:ext cx="21844000" cy="1117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21844000" cy="1117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1900" y="609600"/>
            <a:ext cx="736600" cy="2082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2200" y="10528300"/>
            <a:ext cx="1295400" cy="1384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00" y="9499600"/>
            <a:ext cx="1295400" cy="1384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10693400"/>
            <a:ext cx="355600" cy="355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 rot="5400000">
            <a:off x="-3632200" y="6578600"/>
            <a:ext cx="11290300" cy="5715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C2C2C2"/>
                </a:solidFill>
                <a:latin typeface="Play"/>
                <a:ea typeface="Play"/>
                <a:cs typeface="Play"/>
              </a:rPr>
              <a:t>CUTE &amp; SIMPLE</a:t>
            </a:r>
          </a:p>
        </p:txBody>
      </p:sp>
      <p:sp>
        <p:nvSpPr>
          <p:cNvPr id="16" name="TextBox 16"/>
          <p:cNvSpPr txBox="1"/>
          <p:nvPr/>
        </p:nvSpPr>
        <p:spPr>
          <a:xfrm rot="16200000">
            <a:off x="16891000" y="6604000"/>
            <a:ext cx="11214100" cy="5715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C2C2C2"/>
                </a:solidFill>
                <a:latin typeface="Play"/>
                <a:ea typeface="Play"/>
                <a:cs typeface="Play"/>
              </a:rPr>
              <a:t>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27600" y="2565400"/>
            <a:ext cx="14732000" cy="3111500"/>
          </a:xfrm>
          <a:prstGeom prst="rect">
            <a:avLst/>
          </a:prstGeom>
        </p:spPr>
        <p:txBody>
          <a:bodyPr lIns="0" tIns="222301" rIns="0" bIns="222301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7504" b="0" i="0" u="none" strike="noStrike" spc="-200" dirty="0" err="1">
                <a:solidFill>
                  <a:srgbClr val="44B1EB"/>
                </a:solidFill>
                <a:latin typeface="Cafe24 Shiningstar"/>
                <a:ea typeface="Cafe24 Shiningstar"/>
                <a:cs typeface="Cafe24 Shiningstar"/>
              </a:rPr>
              <a:t>저기요</a:t>
            </a:r>
            <a:endParaRPr lang="en-US" sz="17504" b="0" i="0" u="none" strike="noStrike" spc="-200" dirty="0">
              <a:solidFill>
                <a:srgbClr val="44B1EB"/>
              </a:solidFill>
              <a:latin typeface="Cafe24 Shiningstar"/>
              <a:ea typeface="Cafe24 Shiningstar"/>
              <a:cs typeface="Cafe24 Shiningst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08200" y="4787900"/>
            <a:ext cx="20193000" cy="4368800"/>
          </a:xfrm>
          <a:prstGeom prst="rect">
            <a:avLst/>
          </a:prstGeom>
        </p:spPr>
        <p:txBody>
          <a:bodyPr lIns="0" tIns="312191" rIns="0" bIns="312191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582" spc="-300" dirty="0">
                <a:solidFill>
                  <a:srgbClr val="00577E"/>
                </a:solidFill>
                <a:latin typeface="Cafe24Ohsquare"/>
                <a:ea typeface="Cafe24Ohsquare"/>
                <a:cs typeface="Cafe24Ohsquare"/>
              </a:rPr>
              <a:t>화면구현</a:t>
            </a:r>
            <a:endParaRPr lang="en-US" sz="24582" b="0" i="0" u="none" strike="noStrike" spc="-300" dirty="0">
              <a:solidFill>
                <a:srgbClr val="00577E"/>
              </a:solidFill>
              <a:latin typeface="Cafe24Ohsquare"/>
              <a:ea typeface="Cafe24Ohsquare"/>
              <a:cs typeface="Cafe24Ohsquar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72004D-6645-4CAD-831B-4F76AD2A7E93}"/>
              </a:ext>
            </a:extLst>
          </p:cNvPr>
          <p:cNvSpPr txBox="1"/>
          <p:nvPr/>
        </p:nvSpPr>
        <p:spPr>
          <a:xfrm>
            <a:off x="10185681" y="9708936"/>
            <a:ext cx="40126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Gmarket Sans Light" panose="020B0600000101010101" charset="-127"/>
                <a:ea typeface="Gmarket Sans Light" panose="020B0600000101010101" charset="-127"/>
              </a:rPr>
              <a:t>김선길</a:t>
            </a:r>
            <a:r>
              <a:rPr lang="en-US" altLang="ko-KR" sz="3000" dirty="0">
                <a:latin typeface="Gmarket Sans Light" panose="020B0600000101010101" charset="-127"/>
                <a:ea typeface="Gmarket Sans Light" panose="020B0600000101010101" charset="-127"/>
              </a:rPr>
              <a:t>, </a:t>
            </a:r>
            <a:r>
              <a:rPr lang="ko-KR" altLang="en-US" sz="3000" dirty="0">
                <a:latin typeface="Gmarket Sans Light" panose="020B0600000101010101" charset="-127"/>
                <a:ea typeface="Gmarket Sans Light" panose="020B0600000101010101" charset="-127"/>
              </a:rPr>
              <a:t>김정희</a:t>
            </a:r>
            <a:r>
              <a:rPr lang="en-US" altLang="ko-KR" sz="3000" dirty="0">
                <a:latin typeface="Gmarket Sans Light" panose="020B0600000101010101" charset="-127"/>
                <a:ea typeface="Gmarket Sans Light" panose="020B0600000101010101" charset="-127"/>
              </a:rPr>
              <a:t>, </a:t>
            </a:r>
            <a:r>
              <a:rPr lang="ko-KR" altLang="en-US" sz="3000" dirty="0">
                <a:latin typeface="Gmarket Sans Light" panose="020B0600000101010101" charset="-127"/>
                <a:ea typeface="Gmarket Sans Light" panose="020B0600000101010101" charset="-127"/>
              </a:rPr>
              <a:t>정승원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3600" y="7505700"/>
            <a:ext cx="10033000" cy="1930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06300" y="7518400"/>
            <a:ext cx="1308100" cy="1930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7505700"/>
            <a:ext cx="10033000" cy="1930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2000" y="7518400"/>
            <a:ext cx="1308100" cy="1930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3600" y="5207000"/>
            <a:ext cx="10033000" cy="1930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06300" y="5219700"/>
            <a:ext cx="1308100" cy="1930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0" y="5207000"/>
            <a:ext cx="10033000" cy="1930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2000" y="5219700"/>
            <a:ext cx="1308100" cy="193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273300" y="11188700"/>
            <a:ext cx="6565900" cy="6565900"/>
          </a:xfrm>
          <a:prstGeom prst="rect">
            <a:avLst/>
          </a:prstGeom>
          <a:effectLst>
            <a:outerShdw dist="858066" dir="1860000">
              <a:srgbClr val="4E9BC4">
                <a:alpha val="50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419100" y="12369800"/>
            <a:ext cx="1333500" cy="660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300" y="11658600"/>
            <a:ext cx="266700" cy="469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11300" y="11671300"/>
            <a:ext cx="266700" cy="469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04100" y="11061700"/>
            <a:ext cx="6565900" cy="6565900"/>
          </a:xfrm>
          <a:prstGeom prst="rect">
            <a:avLst/>
          </a:prstGeom>
          <a:effectLst>
            <a:outerShdw dist="858066" dir="1860000">
              <a:srgbClr val="4E9BC4">
                <a:alpha val="50000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22796500" y="12242800"/>
            <a:ext cx="1333500" cy="660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09200" y="11569700"/>
            <a:ext cx="279400" cy="469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837900" y="11582400"/>
            <a:ext cx="279400" cy="4699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3538200" y="7835900"/>
            <a:ext cx="8877300" cy="13208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메뉴 페이지 </a:t>
            </a:r>
            <a:r>
              <a:rPr lang="en-US" altLang="ko-KR" sz="4000" b="0" i="0" u="none" strike="noStrike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: </a:t>
            </a:r>
            <a:r>
              <a:rPr lang="en-US" altLang="ko-KR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menu</a:t>
            </a:r>
            <a:r>
              <a:rPr lang="en-US" altLang="ko-KR" sz="4000" b="0" i="0" u="none" strike="noStrike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103100" y="7531100"/>
            <a:ext cx="1714500" cy="1892300"/>
          </a:xfrm>
          <a:prstGeom prst="rect">
            <a:avLst/>
          </a:prstGeom>
        </p:spPr>
        <p:txBody>
          <a:bodyPr lIns="0" tIns="135458" rIns="0" bIns="135458" rtlCol="0" anchor="ctr"/>
          <a:lstStyle/>
          <a:p>
            <a:pPr lvl="0" algn="ctr">
              <a:lnSpc>
                <a:spcPct val="99600"/>
              </a:lnSpc>
            </a:pPr>
            <a:r>
              <a:rPr lang="en-US" sz="10666" b="0" i="0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63900" y="7835900"/>
            <a:ext cx="8877300" cy="13208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업체 페이지 </a:t>
            </a:r>
            <a:r>
              <a:rPr lang="en-US" altLang="ko-KR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: store.html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828800" y="7531100"/>
            <a:ext cx="1714500" cy="1892300"/>
          </a:xfrm>
          <a:prstGeom prst="rect">
            <a:avLst/>
          </a:prstGeom>
        </p:spPr>
        <p:txBody>
          <a:bodyPr lIns="0" tIns="135458" rIns="0" bIns="135458" rtlCol="0" anchor="ctr"/>
          <a:lstStyle/>
          <a:p>
            <a:pPr lvl="0" algn="ctr">
              <a:lnSpc>
                <a:spcPct val="99600"/>
              </a:lnSpc>
            </a:pPr>
            <a:r>
              <a:rPr lang="en-US" sz="10666" b="0" i="0" u="none" strike="noStrike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38200" y="5537200"/>
            <a:ext cx="8877300" cy="13208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메인 </a:t>
            </a:r>
            <a:r>
              <a:rPr lang="ko-KR" altLang="en-US" sz="4000" b="0" i="0" u="none" strike="noStrike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페이지 </a:t>
            </a:r>
            <a:r>
              <a:rPr lang="en-US" altLang="ko-KR" sz="4000" b="0" i="0" u="none" strike="noStrike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: main.html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090400" y="5219700"/>
            <a:ext cx="1727200" cy="1892300"/>
          </a:xfrm>
          <a:prstGeom prst="rect">
            <a:avLst/>
          </a:prstGeom>
        </p:spPr>
        <p:txBody>
          <a:bodyPr lIns="0" tIns="135458" rIns="0" bIns="135458" rtlCol="0" anchor="ctr"/>
          <a:lstStyle/>
          <a:p>
            <a:pPr lvl="0" algn="ctr">
              <a:lnSpc>
                <a:spcPct val="99600"/>
              </a:lnSpc>
            </a:pPr>
            <a:r>
              <a:rPr lang="en-US" sz="10666" b="0" i="0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63900" y="5880100"/>
            <a:ext cx="88773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Header, Footer </a:t>
            </a:r>
            <a:r>
              <a:rPr lang="ko-KR" altLang="en-US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공통 영역 검사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828800" y="5219700"/>
            <a:ext cx="1714500" cy="1892300"/>
          </a:xfrm>
          <a:prstGeom prst="rect">
            <a:avLst/>
          </a:prstGeom>
        </p:spPr>
        <p:txBody>
          <a:bodyPr lIns="0" tIns="135458" rIns="0" bIns="135458" rtlCol="0" anchor="ctr"/>
          <a:lstStyle/>
          <a:p>
            <a:pPr lvl="0" algn="ctr">
              <a:lnSpc>
                <a:spcPct val="99600"/>
              </a:lnSpc>
            </a:pPr>
            <a:r>
              <a:rPr lang="en-US" sz="10666" b="0" i="0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>
                <a:solidFill>
                  <a:srgbClr val="00577E"/>
                </a:solidFill>
                <a:latin typeface="Play"/>
                <a:ea typeface="Play"/>
                <a:cs typeface="Play"/>
              </a:rPr>
              <a:t>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943600" y="2260600"/>
            <a:ext cx="12509500" cy="2844800"/>
          </a:xfrm>
          <a:prstGeom prst="rect">
            <a:avLst/>
          </a:prstGeom>
        </p:spPr>
        <p:txBody>
          <a:bodyPr lIns="0" tIns="203200" rIns="0" bIns="2032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6000" b="0" i="0" u="none" strike="noStrike" spc="-200" dirty="0">
                <a:solidFill>
                  <a:srgbClr val="00577E"/>
                </a:solidFill>
                <a:latin typeface="Cafe24Ohsquare"/>
                <a:ea typeface="Cafe24Ohsquare"/>
                <a:cs typeface="Cafe24Ohsquare"/>
              </a:rPr>
              <a:t>목차</a:t>
            </a:r>
            <a:endParaRPr lang="en-US" sz="16000" b="0" i="0" u="none" strike="noStrike" spc="-200" dirty="0">
              <a:solidFill>
                <a:srgbClr val="00577E"/>
              </a:solidFill>
              <a:latin typeface="Cafe24Ohsquare"/>
              <a:ea typeface="Cafe24Ohsquare"/>
              <a:cs typeface="Cafe24Ohsquare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3913BE1C-53CF-4690-A9E0-8F712C2E08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10020300"/>
            <a:ext cx="10033000" cy="1930400"/>
          </a:xfrm>
          <a:prstGeom prst="rect">
            <a:avLst/>
          </a:prstGeom>
        </p:spPr>
      </p:pic>
      <p:pic>
        <p:nvPicPr>
          <p:cNvPr id="43" name="Picture 14">
            <a:extLst>
              <a:ext uri="{FF2B5EF4-FFF2-40B4-BE49-F238E27FC236}">
                <a16:creationId xmlns:a16="http://schemas.microsoft.com/office/drawing/2014/main" id="{151D195F-F9FF-49CA-8571-608C291B4D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0009632"/>
            <a:ext cx="1308100" cy="1930400"/>
          </a:xfrm>
          <a:prstGeom prst="rect">
            <a:avLst/>
          </a:prstGeom>
        </p:spPr>
      </p:pic>
      <p:sp>
        <p:nvSpPr>
          <p:cNvPr id="44" name="TextBox 34">
            <a:extLst>
              <a:ext uri="{FF2B5EF4-FFF2-40B4-BE49-F238E27FC236}">
                <a16:creationId xmlns:a16="http://schemas.microsoft.com/office/drawing/2014/main" id="{190C35AA-1B90-4CF4-BED9-AD8137838478}"/>
              </a:ext>
            </a:extLst>
          </p:cNvPr>
          <p:cNvSpPr txBox="1"/>
          <p:nvPr/>
        </p:nvSpPr>
        <p:spPr>
          <a:xfrm>
            <a:off x="1816100" y="10043668"/>
            <a:ext cx="1714500" cy="1892300"/>
          </a:xfrm>
          <a:prstGeom prst="rect">
            <a:avLst/>
          </a:prstGeom>
        </p:spPr>
        <p:txBody>
          <a:bodyPr lIns="0" tIns="135458" rIns="0" bIns="135458" rtlCol="0" anchor="ctr"/>
          <a:lstStyle/>
          <a:p>
            <a:pPr lvl="0" algn="ctr">
              <a:lnSpc>
                <a:spcPct val="99600"/>
              </a:lnSpc>
            </a:pPr>
            <a:r>
              <a:rPr lang="en-US" sz="10666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5</a:t>
            </a:r>
            <a:endParaRPr lang="en-US" sz="10666" b="0" i="0" u="none" strike="noStrike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45" name="TextBox 33">
            <a:extLst>
              <a:ext uri="{FF2B5EF4-FFF2-40B4-BE49-F238E27FC236}">
                <a16:creationId xmlns:a16="http://schemas.microsoft.com/office/drawing/2014/main" id="{B8867195-4BF9-4CC7-883B-C6E36E0143D3}"/>
              </a:ext>
            </a:extLst>
          </p:cNvPr>
          <p:cNvSpPr txBox="1"/>
          <p:nvPr/>
        </p:nvSpPr>
        <p:spPr>
          <a:xfrm>
            <a:off x="3141726" y="10363708"/>
            <a:ext cx="8877300" cy="13208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결제 페이지 </a:t>
            </a:r>
            <a:r>
              <a:rPr lang="en-US" altLang="ko-KR" sz="4000" dirty="0">
                <a:solidFill>
                  <a:srgbClr val="00577E"/>
                </a:solidFill>
                <a:latin typeface="Gmarket Sans Medium"/>
                <a:ea typeface="Gmarket Sans Medium"/>
                <a:cs typeface="Gmarket Sans Medium"/>
              </a:rPr>
              <a:t>: payment.html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1. Header, Footer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공통 영역 검사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>
                <a:solidFill>
                  <a:srgbClr val="00577E"/>
                </a:solidFill>
                <a:latin typeface="Play"/>
                <a:ea typeface="Play"/>
                <a:cs typeface="Play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9067800" y="2896513"/>
            <a:ext cx="506145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-Header html </a:t>
            </a:r>
            <a:r>
              <a:rPr lang="ko-KR" altLang="en-US" sz="5000" dirty="0"/>
              <a:t>검사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ED962C9-8EE1-48B0-86EA-DAA067D97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71734"/>
            <a:ext cx="12738100" cy="406531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D7B25E9-2EFF-4407-9F04-748DBCFE4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7782724"/>
            <a:ext cx="7206910" cy="44804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A5DF30-A5F5-4760-8D1A-6E0CB45359BC}"/>
              </a:ext>
            </a:extLst>
          </p:cNvPr>
          <p:cNvSpPr txBox="1"/>
          <p:nvPr/>
        </p:nvSpPr>
        <p:spPr>
          <a:xfrm>
            <a:off x="13944600" y="7837050"/>
            <a:ext cx="60420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- W3C </a:t>
            </a:r>
            <a:r>
              <a:rPr lang="ko-KR" altLang="en-US" sz="5000" dirty="0"/>
              <a:t>검사 오류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1. Header, Footer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공통 영역 검사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9067800" y="2896513"/>
            <a:ext cx="486947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-Footer html </a:t>
            </a:r>
            <a:r>
              <a:rPr lang="ko-KR" altLang="en-US" sz="5000" dirty="0"/>
              <a:t>검사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ED962C9-8EE1-48B0-86EA-DAA067D97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71734"/>
            <a:ext cx="12738100" cy="4065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A5DF30-A5F5-4760-8D1A-6E0CB45359BC}"/>
              </a:ext>
            </a:extLst>
          </p:cNvPr>
          <p:cNvSpPr txBox="1"/>
          <p:nvPr/>
        </p:nvSpPr>
        <p:spPr>
          <a:xfrm>
            <a:off x="13944600" y="7837050"/>
            <a:ext cx="60420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- W3C </a:t>
            </a:r>
            <a:r>
              <a:rPr lang="ko-KR" altLang="en-US" sz="5000" dirty="0"/>
              <a:t>검사 오류 없음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746EA0-15B8-405C-B4B7-5AD8D9649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2598" y="7620000"/>
            <a:ext cx="6296904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6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2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메인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main.html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05A6771-C581-47FA-A01F-2CFD0C219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2260600"/>
            <a:ext cx="11658600" cy="10007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0BA74C-FB4D-402F-9828-4033E9EE46A1}"/>
              </a:ext>
            </a:extLst>
          </p:cNvPr>
          <p:cNvSpPr txBox="1"/>
          <p:nvPr/>
        </p:nvSpPr>
        <p:spPr>
          <a:xfrm>
            <a:off x="18974735" y="5987261"/>
            <a:ext cx="148951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main</a:t>
            </a:r>
            <a:endParaRPr lang="ko-KR" altLang="en-US" sz="5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9FFFE5-5BB6-4FA6-B558-B380FF8F0D5A}"/>
              </a:ext>
            </a:extLst>
          </p:cNvPr>
          <p:cNvSpPr/>
          <p:nvPr/>
        </p:nvSpPr>
        <p:spPr>
          <a:xfrm>
            <a:off x="9063318" y="2139950"/>
            <a:ext cx="12120282" cy="2012949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5E21BB-5142-47A9-992A-99734B898BC7}"/>
              </a:ext>
            </a:extLst>
          </p:cNvPr>
          <p:cNvSpPr txBox="1"/>
          <p:nvPr/>
        </p:nvSpPr>
        <p:spPr>
          <a:xfrm>
            <a:off x="6930581" y="1879600"/>
            <a:ext cx="208903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Header</a:t>
            </a:r>
            <a:endParaRPr lang="ko-KR" altLang="en-US" sz="5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704B35-7C9A-473B-8024-E4BFD7E3BBAE}"/>
              </a:ext>
            </a:extLst>
          </p:cNvPr>
          <p:cNvSpPr/>
          <p:nvPr/>
        </p:nvSpPr>
        <p:spPr>
          <a:xfrm>
            <a:off x="9448800" y="4216399"/>
            <a:ext cx="11506200" cy="572770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424C2-F0FD-4179-8EDF-738C5309C8A9}"/>
              </a:ext>
            </a:extLst>
          </p:cNvPr>
          <p:cNvSpPr txBox="1"/>
          <p:nvPr/>
        </p:nvSpPr>
        <p:spPr>
          <a:xfrm>
            <a:off x="1905000" y="5297547"/>
            <a:ext cx="635622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5000" b="1" dirty="0"/>
              <a:t>주 컬러 </a:t>
            </a:r>
            <a:r>
              <a:rPr lang="en-US" altLang="ko-KR" sz="5000" b="1" dirty="0"/>
              <a:t>: #FA0050</a:t>
            </a:r>
          </a:p>
          <a:p>
            <a:pPr marL="285750" indent="-285750">
              <a:buFontTx/>
              <a:buChar char="-"/>
            </a:pPr>
            <a:r>
              <a:rPr lang="ko-KR" altLang="en-US" sz="5000" b="1" dirty="0"/>
              <a:t>헤더 폰트 </a:t>
            </a:r>
            <a:r>
              <a:rPr lang="en-US" altLang="ko-KR" sz="5000" b="1" dirty="0"/>
              <a:t>: </a:t>
            </a:r>
            <a:r>
              <a:rPr lang="ko-KR" altLang="en-US" sz="5000" b="1" dirty="0"/>
              <a:t>기본 폰트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F72733-76BC-4821-AE21-B1927C73C33C}"/>
              </a:ext>
            </a:extLst>
          </p:cNvPr>
          <p:cNvSpPr/>
          <p:nvPr/>
        </p:nvSpPr>
        <p:spPr>
          <a:xfrm>
            <a:off x="9429750" y="9912350"/>
            <a:ext cx="11506200" cy="24765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585D96-C027-42B8-99F3-D373F64C50F3}"/>
              </a:ext>
            </a:extLst>
          </p:cNvPr>
          <p:cNvSpPr txBox="1"/>
          <p:nvPr/>
        </p:nvSpPr>
        <p:spPr>
          <a:xfrm>
            <a:off x="18811058" y="10853188"/>
            <a:ext cx="18970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Footer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74965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2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메인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main.html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05A6771-C581-47FA-A01F-2CFD0C219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" y="2260600"/>
            <a:ext cx="11658600" cy="10007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80BA74C-FB4D-402F-9828-4033E9EE46A1}"/>
              </a:ext>
            </a:extLst>
          </p:cNvPr>
          <p:cNvSpPr txBox="1"/>
          <p:nvPr/>
        </p:nvSpPr>
        <p:spPr>
          <a:xfrm>
            <a:off x="10425170" y="6059726"/>
            <a:ext cx="148951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main</a:t>
            </a:r>
            <a:endParaRPr lang="ko-KR" altLang="en-US" sz="5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704B35-7C9A-473B-8024-E4BFD7E3BBAE}"/>
              </a:ext>
            </a:extLst>
          </p:cNvPr>
          <p:cNvSpPr/>
          <p:nvPr/>
        </p:nvSpPr>
        <p:spPr>
          <a:xfrm>
            <a:off x="1127760" y="4216399"/>
            <a:ext cx="11506200" cy="572770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68C27A7-A7A5-4219-A27C-176C10C38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29709" y="2260600"/>
            <a:ext cx="6582694" cy="9059539"/>
          </a:xfrm>
          <a:prstGeom prst="rect">
            <a:avLst/>
          </a:prstGeom>
        </p:spPr>
      </p:pic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B6B4FF93-7497-4058-8EB4-1E1F79F97271}"/>
              </a:ext>
            </a:extLst>
          </p:cNvPr>
          <p:cNvSpPr/>
          <p:nvPr/>
        </p:nvSpPr>
        <p:spPr>
          <a:xfrm>
            <a:off x="13335000" y="5334000"/>
            <a:ext cx="2426226" cy="1524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956181-321D-4FB7-A237-252EB8E2C723}"/>
              </a:ext>
            </a:extLst>
          </p:cNvPr>
          <p:cNvSpPr/>
          <p:nvPr/>
        </p:nvSpPr>
        <p:spPr>
          <a:xfrm>
            <a:off x="16764000" y="3403599"/>
            <a:ext cx="4818004" cy="855154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424C2-F0FD-4179-8EDF-738C5309C8A9}"/>
              </a:ext>
            </a:extLst>
          </p:cNvPr>
          <p:cNvSpPr txBox="1"/>
          <p:nvPr/>
        </p:nvSpPr>
        <p:spPr>
          <a:xfrm>
            <a:off x="12676680" y="6918959"/>
            <a:ext cx="518061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Main</a:t>
            </a:r>
            <a:r>
              <a:rPr lang="ko-KR" altLang="en-US" sz="4000" b="1" dirty="0"/>
              <a:t> </a:t>
            </a:r>
            <a:r>
              <a:rPr lang="en-US" altLang="ko-KR" sz="4000" b="1" dirty="0"/>
              <a:t>Section </a:t>
            </a:r>
            <a:r>
              <a:rPr lang="ko-KR" altLang="en-US" sz="4000" b="1" dirty="0"/>
              <a:t>카테고리</a:t>
            </a:r>
            <a:endParaRPr lang="en-US" altLang="ko-KR" sz="4000" b="1" dirty="0"/>
          </a:p>
          <a:p>
            <a:endParaRPr lang="en-US" altLang="ko-KR" sz="4000" b="1" dirty="0"/>
          </a:p>
          <a:p>
            <a:r>
              <a:rPr lang="en-US" altLang="ko-KR" sz="4000" b="1" dirty="0"/>
              <a:t>Flex</a:t>
            </a:r>
            <a:r>
              <a:rPr lang="ko-KR" altLang="en-US" sz="4000" b="1" dirty="0"/>
              <a:t>방식을 사용한</a:t>
            </a:r>
            <a:endParaRPr lang="en-US" altLang="ko-KR" sz="4000" b="1" dirty="0"/>
          </a:p>
          <a:p>
            <a:endParaRPr lang="en-US" altLang="ko-KR" sz="4000" b="1" dirty="0"/>
          </a:p>
          <a:p>
            <a:r>
              <a:rPr lang="ko-KR" altLang="en-US" sz="4000" b="1" dirty="0"/>
              <a:t>반응형 정렬</a:t>
            </a:r>
            <a:br>
              <a:rPr lang="en-US" altLang="ko-KR" sz="5000" b="1" dirty="0"/>
            </a:b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58663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2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메인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main.html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E1044CA-6F6C-48C7-B8D9-A9762061D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9711" y="5295735"/>
            <a:ext cx="11342809" cy="4458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662ED2-4B83-48B4-8D4E-DFC2A32A1227}"/>
              </a:ext>
            </a:extLst>
          </p:cNvPr>
          <p:cNvSpPr txBox="1"/>
          <p:nvPr/>
        </p:nvSpPr>
        <p:spPr>
          <a:xfrm>
            <a:off x="8001000" y="3657600"/>
            <a:ext cx="694023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- Header drop down </a:t>
            </a:r>
            <a:r>
              <a:rPr lang="ko-KR" altLang="en-US" sz="5000" b="1" dirty="0"/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7046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2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메인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main.html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62ED2-4B83-48B4-8D4E-DFC2A32A1227}"/>
              </a:ext>
            </a:extLst>
          </p:cNvPr>
          <p:cNvSpPr txBox="1"/>
          <p:nvPr/>
        </p:nvSpPr>
        <p:spPr>
          <a:xfrm>
            <a:off x="9220200" y="2667000"/>
            <a:ext cx="440101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Main.html </a:t>
            </a:r>
            <a:r>
              <a:rPr lang="ko-KR" altLang="en-US" sz="5000" b="1" dirty="0"/>
              <a:t>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787F-A235-42DC-A9C4-75A0CC88D3BE}"/>
              </a:ext>
            </a:extLst>
          </p:cNvPr>
          <p:cNvSpPr txBox="1"/>
          <p:nvPr/>
        </p:nvSpPr>
        <p:spPr>
          <a:xfrm>
            <a:off x="9067800" y="6499592"/>
            <a:ext cx="563808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1. A </a:t>
            </a:r>
            <a:r>
              <a:rPr lang="ko-KR" altLang="en-US" sz="5000" b="1" dirty="0"/>
              <a:t>태그 빈 값 지정</a:t>
            </a:r>
            <a:endParaRPr lang="en-US" altLang="ko-KR" sz="5000" b="1" dirty="0"/>
          </a:p>
          <a:p>
            <a:r>
              <a:rPr lang="en-US" altLang="ko-KR" sz="5000" b="1" dirty="0"/>
              <a:t>2. </a:t>
            </a:r>
            <a:r>
              <a:rPr lang="en-US" altLang="ko-KR" sz="5000" b="1" dirty="0" err="1"/>
              <a:t>Img</a:t>
            </a:r>
            <a:r>
              <a:rPr lang="en-US" altLang="ko-KR" sz="5000" b="1" dirty="0"/>
              <a:t> Alt </a:t>
            </a:r>
            <a:r>
              <a:rPr lang="ko-KR" altLang="en-US" sz="5000" b="1" dirty="0"/>
              <a:t>값 지정</a:t>
            </a:r>
            <a:endParaRPr lang="en-US" altLang="ko-KR" sz="5000" b="1" dirty="0"/>
          </a:p>
        </p:txBody>
      </p:sp>
    </p:spTree>
    <p:extLst>
      <p:ext uri="{BB962C8B-B14F-4D97-AF65-F5344CB8AC3E}">
        <p14:creationId xmlns:p14="http://schemas.microsoft.com/office/powerpoint/2010/main" val="384048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3.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업체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Store.html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07C6C5-4722-4886-9E74-265CC33874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280" y="2461599"/>
            <a:ext cx="13003440" cy="8792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4038504" y="4648200"/>
            <a:ext cx="15247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Main</a:t>
            </a:r>
            <a:endParaRPr lang="ko-KR" altLang="en-US" sz="5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5690280" y="4263008"/>
            <a:ext cx="13003440" cy="6991393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19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3.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업체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Store.html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09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07C6C5-4722-4886-9E74-265CC33874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2028" y="2477247"/>
            <a:ext cx="13003440" cy="87928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6F3412-A329-48FA-8FDA-EC10C69FA2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782" y="2473157"/>
            <a:ext cx="8324246" cy="89356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1440856" y="5934967"/>
            <a:ext cx="836209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Main-menu</a:t>
            </a:r>
            <a:r>
              <a:rPr lang="ko-KR" altLang="en-US" sz="5000" dirty="0"/>
              <a:t>에 마우스 </a:t>
            </a:r>
            <a:r>
              <a:rPr lang="en-US" altLang="ko-KR" sz="5000" dirty="0"/>
              <a:t>hover </a:t>
            </a:r>
            <a:r>
              <a:rPr lang="ko-KR" altLang="en-US" sz="5000" dirty="0"/>
              <a:t>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1459782" y="4617892"/>
            <a:ext cx="8324246" cy="1037229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F99C89C-BB0C-43B5-8CAD-31B2A9CDBE59}"/>
              </a:ext>
            </a:extLst>
          </p:cNvPr>
          <p:cNvSpPr/>
          <p:nvPr/>
        </p:nvSpPr>
        <p:spPr>
          <a:xfrm>
            <a:off x="8778214" y="7301398"/>
            <a:ext cx="2011628" cy="93478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D68F4C-A840-4860-88B3-2257D57C116E}"/>
              </a:ext>
            </a:extLst>
          </p:cNvPr>
          <p:cNvSpPr/>
          <p:nvPr/>
        </p:nvSpPr>
        <p:spPr>
          <a:xfrm>
            <a:off x="11126598" y="5328625"/>
            <a:ext cx="11352401" cy="5644175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E73F6-9BEB-4500-802A-472B217B7D17}"/>
              </a:ext>
            </a:extLst>
          </p:cNvPr>
          <p:cNvSpPr txBox="1"/>
          <p:nvPr/>
        </p:nvSpPr>
        <p:spPr>
          <a:xfrm>
            <a:off x="14189298" y="11354713"/>
            <a:ext cx="66271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Sub-Menu(</a:t>
            </a:r>
            <a:r>
              <a:rPr lang="ko-KR" altLang="en-US" sz="5000" dirty="0"/>
              <a:t>업체명</a:t>
            </a:r>
            <a:r>
              <a:rPr lang="en-US" altLang="ko-KR" sz="5000" dirty="0"/>
              <a:t>) </a:t>
            </a:r>
            <a:r>
              <a:rPr lang="ko-KR" altLang="en-US" sz="5000" dirty="0"/>
              <a:t>노출</a:t>
            </a:r>
          </a:p>
        </p:txBody>
      </p:sp>
    </p:spTree>
    <p:extLst>
      <p:ext uri="{BB962C8B-B14F-4D97-AF65-F5344CB8AC3E}">
        <p14:creationId xmlns:p14="http://schemas.microsoft.com/office/powerpoint/2010/main" val="371212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3.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업체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Store.html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10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4332E88-07B2-4C12-AA0F-845399779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7158" y="7315200"/>
            <a:ext cx="12155596" cy="42201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6202692-D25A-484D-9557-483E24427C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0264" y="2457450"/>
            <a:ext cx="12117491" cy="262926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D68F4C-A840-4860-88B3-2257D57C116E}"/>
              </a:ext>
            </a:extLst>
          </p:cNvPr>
          <p:cNvSpPr/>
          <p:nvPr/>
        </p:nvSpPr>
        <p:spPr>
          <a:xfrm>
            <a:off x="11734800" y="4097347"/>
            <a:ext cx="5867401" cy="500675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F0CAD5DA-5ADE-4352-B889-AF9E2AF43B2C}"/>
              </a:ext>
            </a:extLst>
          </p:cNvPr>
          <p:cNvSpPr/>
          <p:nvPr/>
        </p:nvSpPr>
        <p:spPr>
          <a:xfrm>
            <a:off x="13563600" y="5086717"/>
            <a:ext cx="1295400" cy="382868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E73F6-9BEB-4500-802A-472B217B7D17}"/>
              </a:ext>
            </a:extLst>
          </p:cNvPr>
          <p:cNvSpPr txBox="1"/>
          <p:nvPr/>
        </p:nvSpPr>
        <p:spPr>
          <a:xfrm>
            <a:off x="16840200" y="3987433"/>
            <a:ext cx="574708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정렬 선택창 클릭 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F60011-0347-4423-939A-74212A6116EA}"/>
              </a:ext>
            </a:extLst>
          </p:cNvPr>
          <p:cNvSpPr txBox="1"/>
          <p:nvPr/>
        </p:nvSpPr>
        <p:spPr>
          <a:xfrm>
            <a:off x="12459564" y="11414658"/>
            <a:ext cx="44646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정렬 옵션 선택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471053-52C2-4DF2-8426-2782E6048CA1}"/>
              </a:ext>
            </a:extLst>
          </p:cNvPr>
          <p:cNvSpPr/>
          <p:nvPr/>
        </p:nvSpPr>
        <p:spPr>
          <a:xfrm>
            <a:off x="12192001" y="9096861"/>
            <a:ext cx="4495800" cy="2161689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71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3.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업체페이지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Store.html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11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62ED2-4B83-48B4-8D4E-DFC2A32A1227}"/>
              </a:ext>
            </a:extLst>
          </p:cNvPr>
          <p:cNvSpPr txBox="1"/>
          <p:nvPr/>
        </p:nvSpPr>
        <p:spPr>
          <a:xfrm>
            <a:off x="9220200" y="2667000"/>
            <a:ext cx="442922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Store.html </a:t>
            </a:r>
            <a:r>
              <a:rPr lang="ko-KR" altLang="en-US" sz="5000" b="1" dirty="0"/>
              <a:t>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787F-A235-42DC-A9C4-75A0CC88D3BE}"/>
              </a:ext>
            </a:extLst>
          </p:cNvPr>
          <p:cNvSpPr txBox="1"/>
          <p:nvPr/>
        </p:nvSpPr>
        <p:spPr>
          <a:xfrm>
            <a:off x="8915400" y="6324421"/>
            <a:ext cx="563808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1. A </a:t>
            </a:r>
            <a:r>
              <a:rPr lang="ko-KR" altLang="en-US" sz="5000" b="1" dirty="0"/>
              <a:t>태그 빈 값 지정</a:t>
            </a:r>
            <a:endParaRPr lang="en-US" altLang="ko-KR" sz="5000" b="1" dirty="0"/>
          </a:p>
          <a:p>
            <a:r>
              <a:rPr lang="en-US" altLang="ko-KR" sz="5000" b="1" dirty="0"/>
              <a:t>2. </a:t>
            </a:r>
            <a:r>
              <a:rPr lang="en-US" altLang="ko-KR" sz="5000" b="1" dirty="0" err="1"/>
              <a:t>Img</a:t>
            </a:r>
            <a:r>
              <a:rPr lang="en-US" altLang="ko-KR" sz="5000" b="1" dirty="0"/>
              <a:t> Alt </a:t>
            </a:r>
            <a:r>
              <a:rPr lang="ko-KR" altLang="en-US" sz="5000" b="1" dirty="0"/>
              <a:t>값 지정</a:t>
            </a:r>
            <a:endParaRPr lang="en-US" altLang="ko-KR" sz="5000" b="1" dirty="0"/>
          </a:p>
          <a:p>
            <a:r>
              <a:rPr lang="en-US" altLang="ko-KR" sz="5000" b="1" dirty="0"/>
              <a:t>3. Sort </a:t>
            </a:r>
            <a:r>
              <a:rPr lang="ko-KR" altLang="en-US" sz="5000" b="1" dirty="0"/>
              <a:t>값 지정</a:t>
            </a:r>
            <a:endParaRPr lang="en-US" altLang="ko-KR" sz="5000" b="1" dirty="0"/>
          </a:p>
        </p:txBody>
      </p:sp>
    </p:spTree>
    <p:extLst>
      <p:ext uri="{BB962C8B-B14F-4D97-AF65-F5344CB8AC3E}">
        <p14:creationId xmlns:p14="http://schemas.microsoft.com/office/powerpoint/2010/main" val="428359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4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메뉴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Menu.html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12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4876024" y="3810000"/>
            <a:ext cx="15247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/>
              <a:t>Main</a:t>
            </a:r>
            <a:endParaRPr lang="ko-KR" altLang="en-US" sz="5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243817-940E-4F59-AF09-BAAD15A55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2368176"/>
            <a:ext cx="8776465" cy="100108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6781800" y="3581400"/>
            <a:ext cx="8776465" cy="651510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205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4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메뉴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Menu.html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13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243817-940E-4F59-AF09-BAAD15A55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312" y="2167965"/>
            <a:ext cx="8776465" cy="100108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7315201" y="3308349"/>
            <a:ext cx="2667000" cy="644525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AABF5F-49CB-4E05-B1DD-EA4427A14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72913" y="3256303"/>
            <a:ext cx="7571505" cy="893569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2976A6-25D7-457A-A2DA-E2BBC329DAE8}"/>
              </a:ext>
            </a:extLst>
          </p:cNvPr>
          <p:cNvSpPr/>
          <p:nvPr/>
        </p:nvSpPr>
        <p:spPr>
          <a:xfrm>
            <a:off x="19799300" y="3269750"/>
            <a:ext cx="2667000" cy="644525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E58CDF5-87A7-4FDD-8480-5F8F197E10B7}"/>
              </a:ext>
            </a:extLst>
          </p:cNvPr>
          <p:cNvSpPr/>
          <p:nvPr/>
        </p:nvSpPr>
        <p:spPr>
          <a:xfrm>
            <a:off x="10452466" y="4536639"/>
            <a:ext cx="9054734" cy="861774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D8FAF-CF95-4DE1-BC55-D2165FD7A5AF}"/>
              </a:ext>
            </a:extLst>
          </p:cNvPr>
          <p:cNvSpPr txBox="1"/>
          <p:nvPr/>
        </p:nvSpPr>
        <p:spPr>
          <a:xfrm>
            <a:off x="10430053" y="5404803"/>
            <a:ext cx="503854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/>
              <a:t>주문리스트 스크롤 시 화면 </a:t>
            </a:r>
            <a:r>
              <a:rPr lang="en-US" altLang="ko-KR" sz="5000" dirty="0"/>
              <a:t>follow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62951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4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메뉴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Menu.html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14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243817-940E-4F59-AF09-BAAD15A55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2368176"/>
            <a:ext cx="8776465" cy="100108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2286001" y="5638801"/>
            <a:ext cx="4724400" cy="38862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EB5FBA-2020-48B0-980C-188443FA9D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83881" y="3742965"/>
            <a:ext cx="8137380" cy="862132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77C6D8-9BE2-4B1C-9FEA-47723960348D}"/>
              </a:ext>
            </a:extLst>
          </p:cNvPr>
          <p:cNvSpPr/>
          <p:nvPr/>
        </p:nvSpPr>
        <p:spPr>
          <a:xfrm>
            <a:off x="19126199" y="5572312"/>
            <a:ext cx="3022061" cy="38862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EB76E18-A1FB-4931-BEFA-B68A3D5E6653}"/>
              </a:ext>
            </a:extLst>
          </p:cNvPr>
          <p:cNvSpPr/>
          <p:nvPr/>
        </p:nvSpPr>
        <p:spPr>
          <a:xfrm>
            <a:off x="7238458" y="6484263"/>
            <a:ext cx="11659141" cy="86177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8839201" y="7473037"/>
            <a:ext cx="6781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/>
              <a:t>메뉴 아이템 클릭 시 주문 리스트에</a:t>
            </a:r>
            <a:endParaRPr lang="en-US" altLang="ko-KR" sz="5000" dirty="0"/>
          </a:p>
          <a:p>
            <a:r>
              <a:rPr lang="ko-KR" altLang="en-US" sz="5000" dirty="0"/>
              <a:t>아이템 추가 및 합산</a:t>
            </a:r>
          </a:p>
        </p:txBody>
      </p:sp>
    </p:spTree>
    <p:extLst>
      <p:ext uri="{BB962C8B-B14F-4D97-AF65-F5344CB8AC3E}">
        <p14:creationId xmlns:p14="http://schemas.microsoft.com/office/powerpoint/2010/main" val="2405206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4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메뉴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Menu.html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15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243817-940E-4F59-AF09-BAAD15A55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368176"/>
            <a:ext cx="8776465" cy="100108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7010401" y="3581401"/>
            <a:ext cx="2667000" cy="13716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CF4E82-CC24-41F3-AADF-20003AEAEA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7776" y="3682253"/>
            <a:ext cx="6506483" cy="60968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5ACDAE-94BA-47D0-85FE-900DAB905EBA}"/>
              </a:ext>
            </a:extLst>
          </p:cNvPr>
          <p:cNvSpPr/>
          <p:nvPr/>
        </p:nvSpPr>
        <p:spPr>
          <a:xfrm>
            <a:off x="14687775" y="7785204"/>
            <a:ext cx="6506483" cy="19939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A4CDC84-ADEF-410F-B6B9-1E622804FB4E}"/>
              </a:ext>
            </a:extLst>
          </p:cNvPr>
          <p:cNvSpPr/>
          <p:nvPr/>
        </p:nvSpPr>
        <p:spPr>
          <a:xfrm>
            <a:off x="10198865" y="5791200"/>
            <a:ext cx="4361911" cy="10287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10212313" y="6847230"/>
            <a:ext cx="43484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/>
              <a:t>미디어 쿼리를 통한 페이지 반응형</a:t>
            </a:r>
          </a:p>
        </p:txBody>
      </p:sp>
    </p:spTree>
    <p:extLst>
      <p:ext uri="{BB962C8B-B14F-4D97-AF65-F5344CB8AC3E}">
        <p14:creationId xmlns:p14="http://schemas.microsoft.com/office/powerpoint/2010/main" val="4126379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4</a:t>
            </a: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메뉴페이지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</a:t>
            </a:r>
            <a:r>
              <a:rPr lang="en-US" altLang="ko-KR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Menu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16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62ED2-4B83-48B4-8D4E-DFC2A32A1227}"/>
              </a:ext>
            </a:extLst>
          </p:cNvPr>
          <p:cNvSpPr txBox="1"/>
          <p:nvPr/>
        </p:nvSpPr>
        <p:spPr>
          <a:xfrm>
            <a:off x="9220200" y="2667000"/>
            <a:ext cx="45949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Menu.html </a:t>
            </a:r>
            <a:r>
              <a:rPr lang="ko-KR" altLang="en-US" sz="5000" b="1" dirty="0"/>
              <a:t>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787F-A235-42DC-A9C4-75A0CC88D3BE}"/>
              </a:ext>
            </a:extLst>
          </p:cNvPr>
          <p:cNvSpPr txBox="1"/>
          <p:nvPr/>
        </p:nvSpPr>
        <p:spPr>
          <a:xfrm>
            <a:off x="6191250" y="6324421"/>
            <a:ext cx="120015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b="1" dirty="0"/>
              <a:t>1. A </a:t>
            </a:r>
            <a:r>
              <a:rPr lang="ko-KR" altLang="en-US" sz="5000" b="1" dirty="0"/>
              <a:t>태그 빈 값 지정</a:t>
            </a:r>
            <a:endParaRPr lang="en-US" altLang="ko-KR" sz="5000" b="1" dirty="0"/>
          </a:p>
          <a:p>
            <a:r>
              <a:rPr lang="en-US" altLang="ko-KR" sz="5000" b="1" dirty="0"/>
              <a:t>2. </a:t>
            </a:r>
            <a:r>
              <a:rPr lang="en-US" altLang="ko-KR" sz="5000" b="1" dirty="0" err="1"/>
              <a:t>Img</a:t>
            </a:r>
            <a:r>
              <a:rPr lang="en-US" altLang="ko-KR" sz="5000" b="1" dirty="0"/>
              <a:t> Alt </a:t>
            </a:r>
            <a:r>
              <a:rPr lang="ko-KR" altLang="en-US" sz="5000" b="1" dirty="0"/>
              <a:t>값 지정</a:t>
            </a:r>
            <a:endParaRPr lang="en-US" altLang="ko-KR" sz="5000" b="1" dirty="0"/>
          </a:p>
          <a:p>
            <a:r>
              <a:rPr lang="en-US" altLang="ko-KR" sz="5000" b="1" dirty="0"/>
              <a:t>3. </a:t>
            </a:r>
            <a:r>
              <a:rPr lang="ko-KR" altLang="en-US" sz="5000" b="1" dirty="0"/>
              <a:t>아이콘 소스 링크 주소 끝에 </a:t>
            </a:r>
            <a:r>
              <a:rPr lang="en-US" altLang="ko-KR" sz="5000" b="1" dirty="0"/>
              <a:t>‘/’ </a:t>
            </a:r>
            <a:r>
              <a:rPr lang="ko-KR" altLang="en-US" sz="5000" b="1" dirty="0"/>
              <a:t>사용 지양</a:t>
            </a:r>
            <a:endParaRPr lang="en-US" altLang="ko-KR" sz="5000" b="1" dirty="0"/>
          </a:p>
        </p:txBody>
      </p:sp>
    </p:spTree>
    <p:extLst>
      <p:ext uri="{BB962C8B-B14F-4D97-AF65-F5344CB8AC3E}">
        <p14:creationId xmlns:p14="http://schemas.microsoft.com/office/powerpoint/2010/main" val="122753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5.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결제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Payment.html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17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15212441" y="3200400"/>
            <a:ext cx="20119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Main</a:t>
            </a:r>
            <a:endParaRPr lang="ko-KR" altLang="en-US" sz="5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91FC1B-86AD-490C-8A27-D09E73C988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2649071"/>
            <a:ext cx="7287642" cy="897380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7924799" y="3200400"/>
            <a:ext cx="7287642" cy="64008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056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5.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결제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Payment.html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18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9305215" y="4261461"/>
            <a:ext cx="514189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/>
              <a:t>체크박스 버튼을 이용한 간소화 버튼 구현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91FC1B-86AD-490C-8A27-D09E73C988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008" y="2667000"/>
            <a:ext cx="7287642" cy="897380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6019800" y="3581400"/>
            <a:ext cx="623381" cy="60960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80DF3BF-6F0C-4135-9ADB-086B69349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79636" y="2667000"/>
            <a:ext cx="6830378" cy="5363323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B750F71-2F59-4E40-9468-9AB67E7B2F60}"/>
              </a:ext>
            </a:extLst>
          </p:cNvPr>
          <p:cNvSpPr/>
          <p:nvPr/>
        </p:nvSpPr>
        <p:spPr>
          <a:xfrm>
            <a:off x="7159465" y="3272742"/>
            <a:ext cx="7957887" cy="11430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3BC633-AB78-4009-92BC-BE420FFB5A40}"/>
              </a:ext>
            </a:extLst>
          </p:cNvPr>
          <p:cNvSpPr/>
          <p:nvPr/>
        </p:nvSpPr>
        <p:spPr>
          <a:xfrm>
            <a:off x="15503301" y="3642938"/>
            <a:ext cx="4232499" cy="772804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793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5. </a:t>
            </a:r>
            <a:r>
              <a:rPr lang="ko-KR" altLang="en-US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결제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 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Payment.html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19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467E5-A576-49B3-B283-89AC7F50FEC2}"/>
              </a:ext>
            </a:extLst>
          </p:cNvPr>
          <p:cNvSpPr txBox="1"/>
          <p:nvPr/>
        </p:nvSpPr>
        <p:spPr>
          <a:xfrm>
            <a:off x="8412599" y="7676000"/>
            <a:ext cx="514189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Input</a:t>
            </a:r>
            <a:r>
              <a:rPr lang="ko-KR" altLang="en-US" sz="5000" dirty="0"/>
              <a:t>에 입력 시 글자수 </a:t>
            </a:r>
            <a:r>
              <a:rPr lang="ko-KR" altLang="en-US" sz="5000" dirty="0" err="1"/>
              <a:t>카운팅</a:t>
            </a:r>
            <a:r>
              <a:rPr lang="ko-KR" altLang="en-US" sz="5000" dirty="0"/>
              <a:t> 및 </a:t>
            </a:r>
            <a:r>
              <a:rPr lang="en-US" altLang="ko-KR" sz="5000" dirty="0"/>
              <a:t>100</a:t>
            </a:r>
            <a:r>
              <a:rPr lang="ko-KR" altLang="en-US" sz="5000" dirty="0"/>
              <a:t>자 제한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B750F71-2F59-4E40-9468-9AB67E7B2F60}"/>
              </a:ext>
            </a:extLst>
          </p:cNvPr>
          <p:cNvSpPr/>
          <p:nvPr/>
        </p:nvSpPr>
        <p:spPr>
          <a:xfrm>
            <a:off x="7904599" y="5943600"/>
            <a:ext cx="6725801" cy="11430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7C5618-025C-44FB-A6A9-1833555904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8801" y="4275101"/>
            <a:ext cx="6258798" cy="680179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82FC42-CB1E-4D64-82A6-43300C93BF8A}"/>
              </a:ext>
            </a:extLst>
          </p:cNvPr>
          <p:cNvSpPr/>
          <p:nvPr/>
        </p:nvSpPr>
        <p:spPr>
          <a:xfrm>
            <a:off x="1500513" y="6064250"/>
            <a:ext cx="6277086" cy="1174750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29902D-DEBA-497F-BE06-DEF2A648A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6246" y="4542517"/>
            <a:ext cx="6296904" cy="650648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3BC633-AB78-4009-92BC-BE420FFB5A40}"/>
              </a:ext>
            </a:extLst>
          </p:cNvPr>
          <p:cNvSpPr/>
          <p:nvPr/>
        </p:nvSpPr>
        <p:spPr>
          <a:xfrm>
            <a:off x="15107902" y="5980607"/>
            <a:ext cx="6285248" cy="1180152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62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1" y="635000"/>
            <a:ext cx="23114000" cy="124460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0" y="-292100"/>
            <a:ext cx="927100" cy="262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100" y="717550"/>
            <a:ext cx="220091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5. </a:t>
            </a:r>
            <a:r>
              <a:rPr lang="ko-KR" altLang="en-US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결제페이지 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: </a:t>
            </a:r>
            <a:r>
              <a:rPr lang="en-US" altLang="ko-KR" sz="4000" b="1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Payment</a:t>
            </a:r>
            <a:r>
              <a:rPr lang="en-US" altLang="ko-KR" sz="4000" b="1" i="0" u="none" strike="noStrike" dirty="0">
                <a:solidFill>
                  <a:srgbClr val="00577E"/>
                </a:solidFill>
                <a:latin typeface="Gmarket Sans Light"/>
                <a:ea typeface="Gmarket Sans Light"/>
                <a:cs typeface="Gmarket Sans Light"/>
              </a:rPr>
              <a:t>.html</a:t>
            </a:r>
            <a:endParaRPr lang="en-US" sz="4000" b="0" i="0" u="none" strike="noStrike" dirty="0">
              <a:solidFill>
                <a:srgbClr val="00577E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32800" y="838200"/>
            <a:ext cx="2197100" cy="812800"/>
          </a:xfrm>
          <a:prstGeom prst="rect">
            <a:avLst/>
          </a:prstGeom>
        </p:spPr>
        <p:txBody>
          <a:bodyPr lIns="0" tIns="57645" rIns="0" bIns="57645" rtlCol="0" anchor="ctr"/>
          <a:lstStyle/>
          <a:p>
            <a:pPr lvl="0" algn="r">
              <a:lnSpc>
                <a:spcPct val="99600"/>
              </a:lnSpc>
            </a:pPr>
            <a:r>
              <a:rPr lang="en-US" sz="4539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20</a:t>
            </a:r>
            <a:endParaRPr lang="en-US" sz="45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altLang="ko-KR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62ED2-4B83-48B4-8D4E-DFC2A32A1227}"/>
              </a:ext>
            </a:extLst>
          </p:cNvPr>
          <p:cNvSpPr txBox="1"/>
          <p:nvPr/>
        </p:nvSpPr>
        <p:spPr>
          <a:xfrm>
            <a:off x="9220200" y="2667000"/>
            <a:ext cx="53631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/>
              <a:t>Payment.html </a:t>
            </a:r>
            <a:r>
              <a:rPr lang="ko-KR" altLang="en-US" sz="5000" b="1" dirty="0"/>
              <a:t>검사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787F-A235-42DC-A9C4-75A0CC88D3BE}"/>
              </a:ext>
            </a:extLst>
          </p:cNvPr>
          <p:cNvSpPr txBox="1"/>
          <p:nvPr/>
        </p:nvSpPr>
        <p:spPr>
          <a:xfrm>
            <a:off x="6074725" y="6229669"/>
            <a:ext cx="122345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b="1" dirty="0"/>
              <a:t>1. A </a:t>
            </a:r>
            <a:r>
              <a:rPr lang="ko-KR" altLang="en-US" sz="5000" b="1" dirty="0"/>
              <a:t>태그 빈 값 지정</a:t>
            </a:r>
            <a:endParaRPr lang="en-US" altLang="ko-KR" sz="5000" b="1" dirty="0"/>
          </a:p>
          <a:p>
            <a:r>
              <a:rPr lang="en-US" altLang="ko-KR" sz="5000" b="1" dirty="0"/>
              <a:t>2. </a:t>
            </a:r>
            <a:r>
              <a:rPr lang="en-US" altLang="ko-KR" sz="5000" b="1" dirty="0" err="1"/>
              <a:t>Img</a:t>
            </a:r>
            <a:r>
              <a:rPr lang="en-US" altLang="ko-KR" sz="5000" b="1" dirty="0"/>
              <a:t> Alt </a:t>
            </a:r>
            <a:r>
              <a:rPr lang="ko-KR" altLang="en-US" sz="5000" b="1" dirty="0"/>
              <a:t>값 지정</a:t>
            </a:r>
            <a:endParaRPr lang="en-US" altLang="ko-KR" sz="5000" b="1" dirty="0"/>
          </a:p>
          <a:p>
            <a:r>
              <a:rPr lang="en-US" altLang="ko-KR" sz="5000" b="1" dirty="0"/>
              <a:t>3. </a:t>
            </a:r>
            <a:r>
              <a:rPr lang="ko-KR" altLang="en-US" sz="5000" b="1" dirty="0"/>
              <a:t>아이콘 소스 링크 주소 끝에 </a:t>
            </a:r>
            <a:r>
              <a:rPr lang="en-US" altLang="ko-KR" sz="5000" b="1" dirty="0"/>
              <a:t>‘/’ </a:t>
            </a:r>
            <a:r>
              <a:rPr lang="ko-KR" altLang="en-US" sz="5000" b="1" dirty="0"/>
              <a:t>사용 지양</a:t>
            </a:r>
            <a:endParaRPr lang="en-US" altLang="ko-KR" sz="5000" b="1" dirty="0"/>
          </a:p>
        </p:txBody>
      </p:sp>
    </p:spTree>
    <p:extLst>
      <p:ext uri="{BB962C8B-B14F-4D97-AF65-F5344CB8AC3E}">
        <p14:creationId xmlns:p14="http://schemas.microsoft.com/office/powerpoint/2010/main" val="3955807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"/>
            <a:ext cx="23114000" cy="1244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71500"/>
            <a:ext cx="23114000" cy="1244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30400"/>
            <a:ext cx="231140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635000" y="1752600"/>
            <a:ext cx="927100" cy="262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0900" y="9321800"/>
            <a:ext cx="6261100" cy="6261100"/>
          </a:xfrm>
          <a:prstGeom prst="rect">
            <a:avLst/>
          </a:prstGeom>
          <a:effectLst>
            <a:outerShdw dist="818684" dir="1860000">
              <a:srgbClr val="4E9BC4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7399000" y="10439400"/>
            <a:ext cx="12700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11700" y="9804400"/>
            <a:ext cx="266700" cy="45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89600" y="9817100"/>
            <a:ext cx="2667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800000">
            <a:off x="9182100" y="9321800"/>
            <a:ext cx="6261100" cy="6261100"/>
          </a:xfrm>
          <a:prstGeom prst="rect">
            <a:avLst/>
          </a:prstGeom>
          <a:effectLst>
            <a:outerShdw dist="818439" dir="3660000">
              <a:srgbClr val="4E9BC4">
                <a:alpha val="5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9000000">
            <a:off x="10909300" y="10629900"/>
            <a:ext cx="1270000" cy="635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9800000">
            <a:off x="10553700" y="10337800"/>
            <a:ext cx="254000" cy="44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800000">
            <a:off x="11506200" y="9804400"/>
            <a:ext cx="254000" cy="444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2000" y="9321800"/>
            <a:ext cx="6261100" cy="6261100"/>
          </a:xfrm>
          <a:prstGeom prst="rect">
            <a:avLst/>
          </a:prstGeom>
          <a:effectLst>
            <a:outerShdw dist="818684" dir="1860000">
              <a:srgbClr val="4E9BC4">
                <a:alpha val="5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5880100" y="10439400"/>
            <a:ext cx="12700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2800" y="9804400"/>
            <a:ext cx="266700" cy="457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0700" y="9817100"/>
            <a:ext cx="266700" cy="457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8700" y="4318000"/>
            <a:ext cx="22339300" cy="3543300"/>
          </a:xfrm>
          <a:prstGeom prst="rect">
            <a:avLst/>
          </a:prstGeom>
        </p:spPr>
        <p:txBody>
          <a:bodyPr lIns="0" tIns="506806" rIns="0" bIns="506806" rtlCol="0" anchor="ctr"/>
          <a:lstStyle/>
          <a:p>
            <a:pPr lvl="0" algn="ctr">
              <a:lnSpc>
                <a:spcPct val="83000"/>
              </a:lnSpc>
            </a:pPr>
            <a:r>
              <a:rPr lang="en-US" sz="19953" b="0" i="0" u="none" strike="noStrike" spc="-200">
                <a:solidFill>
                  <a:srgbClr val="00577E"/>
                </a:solidFill>
                <a:latin typeface="Cafe24Ohsquare"/>
                <a:ea typeface="Cafe24Ohsquare"/>
                <a:cs typeface="Cafe24Ohsquare"/>
              </a:rPr>
              <a:t>Thank you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0300" y="889000"/>
            <a:ext cx="36957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l">
              <a:lnSpc>
                <a:spcPct val="99600"/>
              </a:lnSpc>
            </a:pPr>
            <a:r>
              <a:rPr 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3</a:t>
            </a:r>
            <a:r>
              <a:rPr lang="ko-KR" altLang="en-US" sz="3939" b="0" i="0" u="none" strike="noStrike" dirty="0">
                <a:solidFill>
                  <a:srgbClr val="00577E"/>
                </a:solidFill>
                <a:latin typeface="Play"/>
                <a:ea typeface="Play"/>
                <a:cs typeface="Play"/>
              </a:rPr>
              <a:t>조</a:t>
            </a:r>
            <a:endParaRPr lang="en-US" sz="3939" b="0" i="0" u="none" strike="noStrike" dirty="0">
              <a:solidFill>
                <a:srgbClr val="00577E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1894800" y="889000"/>
            <a:ext cx="1435100" cy="698500"/>
          </a:xfrm>
          <a:prstGeom prst="rect">
            <a:avLst/>
          </a:prstGeom>
        </p:spPr>
        <p:txBody>
          <a:bodyPr lIns="0" tIns="50025" rIns="0" bIns="50025" rtlCol="0" anchor="ctr"/>
          <a:lstStyle/>
          <a:p>
            <a:pPr lvl="0" algn="r">
              <a:lnSpc>
                <a:spcPct val="99600"/>
              </a:lnSpc>
            </a:pPr>
            <a:r>
              <a:rPr lang="en-US" sz="3939" b="0" i="0" u="none" strike="noStrike">
                <a:solidFill>
                  <a:srgbClr val="00577E"/>
                </a:solidFill>
                <a:latin typeface="Play"/>
                <a:ea typeface="Play"/>
                <a:cs typeface="Play"/>
              </a:rPr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456</Words>
  <Application>Microsoft Office PowerPoint</Application>
  <PresentationFormat>사용자 지정</PresentationFormat>
  <Paragraphs>122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Gmarket Sans Light</vt:lpstr>
      <vt:lpstr>Pretendard Black</vt:lpstr>
      <vt:lpstr>Cafe24 Shiningstar</vt:lpstr>
      <vt:lpstr>Gmarket Sans Medium</vt:lpstr>
      <vt:lpstr>Arial</vt:lpstr>
      <vt:lpstr>Play</vt:lpstr>
      <vt:lpstr>Cafe24Ohsquare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23</cp:revision>
  <dcterms:created xsi:type="dcterms:W3CDTF">2006-08-16T00:00:00Z</dcterms:created>
  <dcterms:modified xsi:type="dcterms:W3CDTF">2026-03-26T08:51:54Z</dcterms:modified>
</cp:coreProperties>
</file>